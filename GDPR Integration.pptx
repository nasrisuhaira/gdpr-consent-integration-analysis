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DB09-5AA7-2457-5830-3FFAABF98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A1349-EE00-DC96-2E3D-CBD0FA151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87169-6253-71D1-B1C8-F67670CA6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CD8A7-0D1E-B752-382A-6B2FEBEE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0D990-D0C1-6C70-7B17-35F4BF26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75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3A62-E401-6960-BE1C-8ED23AFC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DDC16-4891-2953-F0B8-CBE2EDDA7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3A690-F825-1595-8964-6A53C7A2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BBBF0-F335-F90B-13A0-79386B78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62905-640B-B91D-4360-F6A3167E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42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CB1C-8208-3B9B-B4CE-73279D250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AF27B-CBB6-75B8-7A56-7F32DFD50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636A5-5355-5061-4FC5-620625D7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ED431-9C6D-38F0-55DA-CF8FFDB2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FF194-CEF3-98CA-9EAF-192989D5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05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8068-B268-509A-E315-B8B6F692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163F1-D3D2-B41B-C5A4-9F88D62A3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450E6-9F32-32DF-4B74-20F070828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4B881-0C67-3558-9AEC-B149F03D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0D5AE-1722-1184-FB57-2E151D97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2C3F4-6D22-5F00-0811-05B73D11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91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E57D-4EE4-2050-6814-A56F6DC9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6378D-CDB4-6D47-1888-99ECB9A03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38740-8297-08C4-8D45-9FC934855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4963CD-F26C-4D0B-3918-9FEAE838A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5306C-5AD2-841F-FDBC-387ABC8D0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700C9C-4369-2B2F-BC1D-105B16B0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7BD3E-661D-C573-AD00-7842A0A3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46400-A677-5F6E-F10D-DF15231F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89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8A50-D6E1-A1A7-4FEE-361FC90B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26FD8-0D9F-3957-53B4-D95D0A7E3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9D47C-157F-D7E1-368E-42DBBC2AE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E2640-0DEB-7BF9-8E2A-222289C2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382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B9DAF-9AF8-C6A2-423F-C868C5B2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B9AB3-36CC-495D-326A-F236DBF3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91FC-1863-DD1D-F175-12DE4102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64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DF81-12C7-9C9C-2323-8F15E7F6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2E177-3FD6-75A2-123E-6AB174C83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ABBE1-A184-AA38-8AF8-EBCEF8A2D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75B26-7842-E60F-AA30-7B162D5B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F2A01-B9D1-4483-323D-FD1FB8F6A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EBD91-CD4D-1DD3-E116-5D8B9A7F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11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93C2-86FA-0FD1-62EF-86345432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E7ED8-D1DF-71E8-4C86-881FED0A4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D9C8E-851C-C92A-8876-1AF829527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4BCD4-8E11-F1B9-9593-82166140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96A1B-56A1-B23B-A08D-00293979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29E7-2351-5E8A-6E31-E390589F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53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2896-EEC9-1592-3822-D9E21AEB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3E035-831B-C040-C0AA-4F7FCA239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A9556-E0CC-D07C-8A32-27604FCD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090D0-CEFC-616C-D1C6-7465D69A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E0C38-1D94-B1D0-6119-C73EAD94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28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141AC4-3534-C25B-4FFA-AC86B53EC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FC240-8226-C796-6A10-34934FB1E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96D37-ACBB-AE7C-6097-356FBB88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3CF89-DE51-E89C-E1C8-C3AF4A36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35A1E-CBE8-E687-8F6C-81AAF3EB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5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ADFCE-1D13-FBFD-21C5-C89562CE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D73E-3623-5502-3B2D-B9CE9B146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2DB53-07A9-0A77-27CA-169FAD73A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C0FCC-AF1F-49A5-ABD7-38FE07F74B73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4EB5-4AF5-10EE-7B18-075CDA5CD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0AD01-15E7-CD7E-CDC9-5ABA721C4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EB060-A03C-479A-8AB0-AE7339C4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4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4A43-0ACD-826F-A617-FEDA13B0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GDPR Integration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9777A-D1D8-B7A7-409B-6354E737124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53800" y="6035039"/>
            <a:ext cx="309880" cy="141923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B123BDEB-B126-1E3E-6BC0-AA0068BFC278}"/>
              </a:ext>
            </a:extLst>
          </p:cNvPr>
          <p:cNvSpPr/>
          <p:nvPr/>
        </p:nvSpPr>
        <p:spPr>
          <a:xfrm>
            <a:off x="4378960" y="1381760"/>
            <a:ext cx="2225040" cy="5384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Frontend Channels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07CEA1-590C-3400-FAAF-219C92F55CEB}"/>
              </a:ext>
            </a:extLst>
          </p:cNvPr>
          <p:cNvCxnSpPr>
            <a:stCxn id="4" idx="2"/>
          </p:cNvCxnSpPr>
          <p:nvPr/>
        </p:nvCxnSpPr>
        <p:spPr>
          <a:xfrm>
            <a:off x="5491480" y="1920240"/>
            <a:ext cx="5080" cy="335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A634C04F-124F-CF10-4E5B-C82C79B970DC}"/>
              </a:ext>
            </a:extLst>
          </p:cNvPr>
          <p:cNvSpPr/>
          <p:nvPr/>
        </p:nvSpPr>
        <p:spPr>
          <a:xfrm>
            <a:off x="4856480" y="2255520"/>
            <a:ext cx="1239520" cy="5384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SSO Layer</a:t>
            </a: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0658D5-FE82-F575-7CBF-B1B768138789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5476240" y="2794000"/>
            <a:ext cx="0" cy="396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C332F75B-F20E-011B-77E9-7759F6CE3CE0}"/>
              </a:ext>
            </a:extLst>
          </p:cNvPr>
          <p:cNvSpPr/>
          <p:nvPr/>
        </p:nvSpPr>
        <p:spPr>
          <a:xfrm>
            <a:off x="4856480" y="3190240"/>
            <a:ext cx="1239520" cy="5384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Trust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DC3861-977D-A179-99BB-BC660C03E133}"/>
              </a:ext>
            </a:extLst>
          </p:cNvPr>
          <p:cNvCxnSpPr>
            <a:stCxn id="11" idx="2"/>
          </p:cNvCxnSpPr>
          <p:nvPr/>
        </p:nvCxnSpPr>
        <p:spPr>
          <a:xfrm>
            <a:off x="5476240" y="3728720"/>
            <a:ext cx="0" cy="426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814B2B-4E61-4230-DC06-33B4393DF917}"/>
              </a:ext>
            </a:extLst>
          </p:cNvPr>
          <p:cNvSpPr/>
          <p:nvPr/>
        </p:nvSpPr>
        <p:spPr>
          <a:xfrm>
            <a:off x="3495040" y="4155440"/>
            <a:ext cx="3901440" cy="71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Integration HUB</a:t>
            </a:r>
            <a:endParaRPr lang="en-I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84272B-056A-6FBD-2EE3-E8716B99566E}"/>
              </a:ext>
            </a:extLst>
          </p:cNvPr>
          <p:cNvCxnSpPr/>
          <p:nvPr/>
        </p:nvCxnSpPr>
        <p:spPr>
          <a:xfrm flipH="1">
            <a:off x="2580640" y="4866640"/>
            <a:ext cx="853440" cy="619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04FCB0-09A4-C604-FB6A-D20DB52AEBAF}"/>
              </a:ext>
            </a:extLst>
          </p:cNvPr>
          <p:cNvCxnSpPr>
            <a:stCxn id="15" idx="2"/>
          </p:cNvCxnSpPr>
          <p:nvPr/>
        </p:nvCxnSpPr>
        <p:spPr>
          <a:xfrm>
            <a:off x="5445760" y="4866640"/>
            <a:ext cx="30480" cy="944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7404B07-003F-4A6C-6683-D305B66193BA}"/>
              </a:ext>
            </a:extLst>
          </p:cNvPr>
          <p:cNvCxnSpPr/>
          <p:nvPr/>
        </p:nvCxnSpPr>
        <p:spPr>
          <a:xfrm>
            <a:off x="7396480" y="4866640"/>
            <a:ext cx="1005840" cy="690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A4C91C0-A415-5CAB-8D2A-1D31A1136C64}"/>
              </a:ext>
            </a:extLst>
          </p:cNvPr>
          <p:cNvSpPr/>
          <p:nvPr/>
        </p:nvSpPr>
        <p:spPr>
          <a:xfrm>
            <a:off x="1818640" y="5557520"/>
            <a:ext cx="1290320" cy="721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CDP</a:t>
            </a:r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7834A5-5438-16AD-56AD-7CCC74768756}"/>
              </a:ext>
            </a:extLst>
          </p:cNvPr>
          <p:cNvSpPr/>
          <p:nvPr/>
        </p:nvSpPr>
        <p:spPr>
          <a:xfrm>
            <a:off x="4856480" y="5811520"/>
            <a:ext cx="1432560" cy="6813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SFMC</a:t>
            </a:r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A4B750-C85A-312F-B32F-BCBAB25E5914}"/>
              </a:ext>
            </a:extLst>
          </p:cNvPr>
          <p:cNvSpPr/>
          <p:nvPr/>
        </p:nvSpPr>
        <p:spPr>
          <a:xfrm>
            <a:off x="7904480" y="5557520"/>
            <a:ext cx="1300480" cy="690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SFSC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75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62F6-2664-1BE1-5DF6-2D5015E7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755"/>
          </a:xfrm>
        </p:spPr>
        <p:txBody>
          <a:bodyPr>
            <a:normAutofit fontScale="90000"/>
          </a:bodyPr>
          <a:lstStyle/>
          <a:p>
            <a:r>
              <a:rPr lang="fr-FR" dirty="0"/>
              <a:t>GDPR Consent </a:t>
            </a:r>
            <a:r>
              <a:rPr lang="fr-FR" dirty="0" err="1"/>
              <a:t>Integration</a:t>
            </a:r>
            <a:r>
              <a:rPr lang="fr-FR" dirty="0"/>
              <a:t> — Component </a:t>
            </a:r>
            <a:r>
              <a:rPr lang="fr-FR" dirty="0" err="1"/>
              <a:t>Explanation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401CE-09D9-B269-911C-BF5D2D6C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100" b="1" dirty="0"/>
              <a:t>Frontend Channels</a:t>
            </a:r>
          </a:p>
          <a:p>
            <a:r>
              <a:rPr lang="en-IN" sz="1100" dirty="0"/>
              <a:t>Frontend applications where customers interact and manage their consent preferences.</a:t>
            </a:r>
          </a:p>
          <a:p>
            <a:r>
              <a:rPr lang="en-IN" sz="1100" dirty="0"/>
              <a:t>Examples:</a:t>
            </a:r>
          </a:p>
          <a:p>
            <a:r>
              <a:rPr lang="en-IN" sz="1100" dirty="0"/>
              <a:t>Websites </a:t>
            </a:r>
          </a:p>
          <a:p>
            <a:r>
              <a:rPr lang="en-IN" sz="1100" dirty="0"/>
              <a:t>Mobile Apps </a:t>
            </a:r>
          </a:p>
          <a:p>
            <a:r>
              <a:rPr lang="en-IN" sz="1100" dirty="0"/>
              <a:t>Customer Portals </a:t>
            </a:r>
          </a:p>
          <a:p>
            <a:r>
              <a:rPr lang="en-IN" sz="1100" dirty="0"/>
              <a:t>Registration/Login Screens </a:t>
            </a:r>
          </a:p>
          <a:p>
            <a:r>
              <a:rPr lang="en-IN" sz="1100" b="1" dirty="0"/>
              <a:t>Purpose</a:t>
            </a:r>
          </a:p>
          <a:p>
            <a:r>
              <a:rPr lang="en-IN" sz="1100" dirty="0"/>
              <a:t>Capture user consent selections </a:t>
            </a:r>
          </a:p>
          <a:p>
            <a:r>
              <a:rPr lang="en-IN" sz="1100" dirty="0"/>
              <a:t>Display privacy preferences </a:t>
            </a:r>
          </a:p>
          <a:p>
            <a:r>
              <a:rPr lang="en-IN" sz="1100" dirty="0"/>
              <a:t>Send consent updates securely to backend systems </a:t>
            </a:r>
          </a:p>
          <a:p>
            <a:r>
              <a:rPr lang="en-IN" sz="1100" b="1" dirty="0"/>
              <a:t>Key Activities</a:t>
            </a:r>
          </a:p>
          <a:p>
            <a:r>
              <a:rPr lang="en-IN" sz="1100" dirty="0"/>
              <a:t>Consent checkbox selection </a:t>
            </a:r>
          </a:p>
          <a:p>
            <a:r>
              <a:rPr lang="en-IN" sz="1100" dirty="0"/>
              <a:t>Preference </a:t>
            </a:r>
            <a:r>
              <a:rPr lang="en-IN" sz="1100" dirty="0" err="1"/>
              <a:t>center</a:t>
            </a:r>
            <a:r>
              <a:rPr lang="en-IN" sz="1100" dirty="0"/>
              <a:t> updates </a:t>
            </a:r>
          </a:p>
          <a:p>
            <a:r>
              <a:rPr lang="en-IN" sz="1100" dirty="0"/>
              <a:t>Cookie/banner consent capture </a:t>
            </a:r>
          </a:p>
          <a:p>
            <a:r>
              <a:rPr lang="en-IN" sz="1100" dirty="0"/>
              <a:t>Trigger API request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98215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D1B4-21A7-C655-783E-24C0A050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dirty="0"/>
              <a:t>Single Sign-On layer responsible for identity authentication and secure session management.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299F7-43B9-D333-F66A-9E2FEB365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Purpose</a:t>
            </a:r>
          </a:p>
          <a:p>
            <a:r>
              <a:rPr lang="en-US" sz="1800" dirty="0"/>
              <a:t>Validate customer identity </a:t>
            </a:r>
          </a:p>
          <a:p>
            <a:r>
              <a:rPr lang="en-US" sz="1800" dirty="0"/>
              <a:t>Authenticate tokens/session </a:t>
            </a:r>
          </a:p>
          <a:p>
            <a:r>
              <a:rPr lang="en-US" sz="1800" dirty="0"/>
              <a:t>Ensure consent updates are tied to the correct customer profile </a:t>
            </a:r>
          </a:p>
          <a:p>
            <a:r>
              <a:rPr lang="en-US" sz="1800" b="1" dirty="0"/>
              <a:t>Key Activities</a:t>
            </a:r>
          </a:p>
          <a:p>
            <a:r>
              <a:rPr lang="en-US" sz="1800" dirty="0"/>
              <a:t>User authentication </a:t>
            </a:r>
          </a:p>
          <a:p>
            <a:r>
              <a:rPr lang="en-US" sz="1800" dirty="0"/>
              <a:t>Token validation </a:t>
            </a:r>
          </a:p>
          <a:p>
            <a:r>
              <a:rPr lang="en-US" sz="1800" dirty="0"/>
              <a:t>Identity verification </a:t>
            </a:r>
          </a:p>
          <a:p>
            <a:r>
              <a:rPr lang="en-US" sz="1800" dirty="0"/>
              <a:t>Customer profile linking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9572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3AEC-A06F-3364-9ED3-B06EA591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OneTrust</a:t>
            </a:r>
            <a:r>
              <a:rPr lang="en-US" sz="2800" dirty="0"/>
              <a:t> acting as the source of truth for GDPR consent records.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773AF-9054-8A65-858F-5433CBC1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Purpose</a:t>
            </a:r>
          </a:p>
          <a:p>
            <a:r>
              <a:rPr lang="en-US" sz="1800" dirty="0"/>
              <a:t>Store and validate customer consent </a:t>
            </a:r>
          </a:p>
          <a:p>
            <a:r>
              <a:rPr lang="en-US" sz="1800" dirty="0"/>
              <a:t>Apply GDPR compliance rules </a:t>
            </a:r>
          </a:p>
          <a:p>
            <a:r>
              <a:rPr lang="en-US" sz="1800" dirty="0"/>
              <a:t>Maintain consent history and audit logs </a:t>
            </a:r>
          </a:p>
          <a:p>
            <a:r>
              <a:rPr lang="en-US" sz="1800" b="1" dirty="0"/>
              <a:t>Key Activities</a:t>
            </a:r>
          </a:p>
          <a:p>
            <a:r>
              <a:rPr lang="en-US" sz="1800" dirty="0"/>
              <a:t>Consent validation </a:t>
            </a:r>
          </a:p>
          <a:p>
            <a:r>
              <a:rPr lang="en-US" sz="1800" dirty="0"/>
              <a:t>Consent storage </a:t>
            </a:r>
          </a:p>
          <a:p>
            <a:r>
              <a:rPr lang="en-US" sz="1800" dirty="0"/>
              <a:t>Regional rule evaluation </a:t>
            </a:r>
          </a:p>
          <a:p>
            <a:r>
              <a:rPr lang="en-US" sz="1800" dirty="0"/>
              <a:t>Preference management </a:t>
            </a:r>
          </a:p>
          <a:p>
            <a:r>
              <a:rPr lang="en-US" sz="1800" dirty="0"/>
              <a:t>Audit tracking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4226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67F11-062D-3594-E854-A1A427BA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Hub (IH)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28B6C-A367-1AF7-8BE2-5EC17EB58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Middleware/integration orchestration layer that distributes consent updates across downstream systems.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Centralize integrations </a:t>
            </a:r>
          </a:p>
          <a:p>
            <a:r>
              <a:rPr lang="en-US" dirty="0"/>
              <a:t>Reduce point-to-point connections </a:t>
            </a:r>
          </a:p>
          <a:p>
            <a:r>
              <a:rPr lang="en-US" dirty="0"/>
              <a:t>Enable scalable event-driven communication </a:t>
            </a:r>
          </a:p>
          <a:p>
            <a:r>
              <a:rPr lang="en-US" b="1" dirty="0"/>
              <a:t>Key Activities</a:t>
            </a:r>
          </a:p>
          <a:p>
            <a:r>
              <a:rPr lang="en-US" dirty="0"/>
              <a:t>API orchestration </a:t>
            </a:r>
          </a:p>
          <a:p>
            <a:r>
              <a:rPr lang="en-US" dirty="0"/>
              <a:t>Event publishing </a:t>
            </a:r>
          </a:p>
          <a:p>
            <a:r>
              <a:rPr lang="en-US" dirty="0"/>
              <a:t>Data transformation </a:t>
            </a:r>
          </a:p>
          <a:p>
            <a:r>
              <a:rPr lang="en-US" dirty="0"/>
              <a:t>Retry/error handling </a:t>
            </a:r>
          </a:p>
          <a:p>
            <a:r>
              <a:rPr lang="en-US" dirty="0"/>
              <a:t>Monitoring and logging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53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A941-6B57-D006-5E8D-38682B30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CDP (Customer Data Platform)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214F4-8B3E-24BA-8C57-B624A2626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Maintain consolidated customer profiles </a:t>
            </a:r>
          </a:p>
          <a:p>
            <a:r>
              <a:rPr lang="en-US" dirty="0"/>
              <a:t>Use consent-approved data for personalization and analytics </a:t>
            </a:r>
          </a:p>
          <a:p>
            <a:r>
              <a:rPr lang="en-US" b="1" dirty="0"/>
              <a:t>Key Activities</a:t>
            </a:r>
          </a:p>
          <a:p>
            <a:r>
              <a:rPr lang="en-US" dirty="0"/>
              <a:t>Customer profile updates </a:t>
            </a:r>
          </a:p>
          <a:p>
            <a:r>
              <a:rPr lang="en-US" dirty="0"/>
              <a:t>Audience segmentation </a:t>
            </a:r>
          </a:p>
          <a:p>
            <a:r>
              <a:rPr lang="en-US" dirty="0"/>
              <a:t>Consent-aware personalization </a:t>
            </a:r>
          </a:p>
          <a:p>
            <a:r>
              <a:rPr lang="en-US" dirty="0"/>
              <a:t>Data synchronization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72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9C87-BF82-926D-8A4B-A77496F2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SFMC (Salesforce Marketing Cloud)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FE50-0177-809B-FDE1-100394F9B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Marketing automation platform used for customer communications.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Send marketing communications only to consented users </a:t>
            </a:r>
          </a:p>
          <a:p>
            <a:r>
              <a:rPr lang="en-US" dirty="0"/>
              <a:t>Respect email/SMS preference changes </a:t>
            </a:r>
          </a:p>
          <a:p>
            <a:r>
              <a:rPr lang="en-US" b="1" dirty="0"/>
              <a:t>Key Activities</a:t>
            </a:r>
          </a:p>
          <a:p>
            <a:r>
              <a:rPr lang="en-US" dirty="0"/>
              <a:t>Email campaign eligibility </a:t>
            </a:r>
          </a:p>
          <a:p>
            <a:r>
              <a:rPr lang="en-US" dirty="0"/>
              <a:t>Subscription management </a:t>
            </a:r>
          </a:p>
          <a:p>
            <a:r>
              <a:rPr lang="en-US" dirty="0"/>
              <a:t>Marketing audience updates</a:t>
            </a:r>
          </a:p>
          <a:p>
            <a:r>
              <a:rPr lang="en-IN" dirty="0"/>
              <a:t>Communication suppression</a:t>
            </a:r>
          </a:p>
        </p:txBody>
      </p:sp>
    </p:spTree>
    <p:extLst>
      <p:ext uri="{BB962C8B-B14F-4D97-AF65-F5344CB8AC3E}">
        <p14:creationId xmlns:p14="http://schemas.microsoft.com/office/powerpoint/2010/main" val="109453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9E91-CFE7-4BFA-A092-C49D86AF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SFSC (Salesforce Service Cloud)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311ED-9FE0-8C49-F82B-E23A5E7F8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Customer service platform managing support interactions and customer servicing.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Ensure customer support teams view the latest consent status </a:t>
            </a:r>
          </a:p>
          <a:p>
            <a:r>
              <a:rPr lang="en-US" dirty="0"/>
              <a:t>Prevent unauthorized outreach </a:t>
            </a:r>
          </a:p>
          <a:p>
            <a:r>
              <a:rPr lang="en-US" b="1" dirty="0"/>
              <a:t>Key Activities</a:t>
            </a:r>
          </a:p>
          <a:p>
            <a:r>
              <a:rPr lang="en-US" dirty="0"/>
              <a:t>Customer profile synchronization </a:t>
            </a:r>
          </a:p>
          <a:p>
            <a:r>
              <a:rPr lang="en-US" dirty="0"/>
              <a:t>Service case visibility </a:t>
            </a:r>
          </a:p>
          <a:p>
            <a:r>
              <a:rPr lang="en-US" dirty="0"/>
              <a:t>Consent-aware customer interactions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7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C4E5-3132-6F8C-5872-89D16BE6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End-to-End Flow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6CC3B6-2583-586B-4FD4-9AC0A7CEE2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985012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updates consent in frontend channels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SSO authenticates the customer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OneTrust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validates and stores consent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Hub distributes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CDP, SFMC, and SFSC receive latest consent status </a:t>
            </a:r>
          </a:p>
        </p:txBody>
      </p:sp>
    </p:spTree>
    <p:extLst>
      <p:ext uri="{BB962C8B-B14F-4D97-AF65-F5344CB8AC3E}">
        <p14:creationId xmlns:p14="http://schemas.microsoft.com/office/powerpoint/2010/main" val="1712449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343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GDPR Integration </vt:lpstr>
      <vt:lpstr>GDPR Consent Integration — Component Explanation</vt:lpstr>
      <vt:lpstr> Single Sign-On layer responsible for identity authentication and secure session management. </vt:lpstr>
      <vt:lpstr>OneTrust acting as the source of truth for GDPR consent records. </vt:lpstr>
      <vt:lpstr>Integration Hub (IH)</vt:lpstr>
      <vt:lpstr>CDP (Customer Data Platform)</vt:lpstr>
      <vt:lpstr>SFMC (Salesforce Marketing Cloud)</vt:lpstr>
      <vt:lpstr>SFSC (Salesforce Service Cloud)</vt:lpstr>
      <vt:lpstr>End-to-End Flow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Nasrin Suhaira</dc:creator>
  <cp:lastModifiedBy>Nasrin Suhaira</cp:lastModifiedBy>
  <cp:revision>1</cp:revision>
  <dcterms:created xsi:type="dcterms:W3CDTF">2026-05-26T12:13:10Z</dcterms:created>
  <dcterms:modified xsi:type="dcterms:W3CDTF">2026-05-26T12:18:31Z</dcterms:modified>
</cp:coreProperties>
</file>